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F34"/>
    <a:srgbClr val="005487"/>
    <a:srgbClr val="00132C"/>
    <a:srgbClr val="005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0"/>
  </p:normalViewPr>
  <p:slideViewPr>
    <p:cSldViewPr snapToGrid="0">
      <p:cViewPr>
        <p:scale>
          <a:sx n="100" d="100"/>
          <a:sy n="100" d="100"/>
        </p:scale>
        <p:origin x="2584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07B69-4DE4-D447-88A7-3976803187DB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C6C90-D210-4347-885B-C0B0AA40F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2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C6C90-D210-4347-885B-C0B0AA40F4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4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5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6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2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3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8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5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7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5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5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2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96241FD-7B2D-2E7B-E7D6-C799BFEFEB8A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101F3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View generated image">
            <a:extLst>
              <a:ext uri="{FF2B5EF4-FFF2-40B4-BE49-F238E27FC236}">
                <a16:creationId xmlns:a16="http://schemas.microsoft.com/office/drawing/2014/main" id="{19599C34-F150-3BB0-2F48-A2083E909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4" r="11364"/>
          <a:stretch/>
        </p:blipFill>
        <p:spPr bwMode="auto">
          <a:xfrm>
            <a:off x="0" y="-1"/>
            <a:ext cx="7772400" cy="1005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dited image result">
            <a:extLst>
              <a:ext uri="{FF2B5EF4-FFF2-40B4-BE49-F238E27FC236}">
                <a16:creationId xmlns:a16="http://schemas.microsoft.com/office/drawing/2014/main" id="{211BB0F8-0A1F-ADFC-1C4B-CBCD48C62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666" y="5207011"/>
            <a:ext cx="5122333" cy="512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with a rocket in the middle&#10;&#10;AI-generated content may be incorrect.">
            <a:extLst>
              <a:ext uri="{FF2B5EF4-FFF2-40B4-BE49-F238E27FC236}">
                <a16:creationId xmlns:a16="http://schemas.microsoft.com/office/drawing/2014/main" id="{70685B0A-8E40-62F1-CAF5-B1DCBE32F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82" y="588433"/>
            <a:ext cx="1310217" cy="949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A62C84-67D9-CBD5-4ECA-FF58E2C6D0E5}"/>
              </a:ext>
            </a:extLst>
          </p:cNvPr>
          <p:cNvSpPr txBox="1"/>
          <p:nvPr/>
        </p:nvSpPr>
        <p:spPr>
          <a:xfrm>
            <a:off x="1918456" y="395013"/>
            <a:ext cx="48583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>
                <a:solidFill>
                  <a:srgbClr val="E0EBFF"/>
                </a:solidFill>
              </a:rPr>
              <a:t>ApolloSRM</a:t>
            </a:r>
            <a:r>
              <a:rPr lang="en-US" sz="4000" b="1" dirty="0">
                <a:solidFill>
                  <a:srgbClr val="E0EBFF"/>
                </a:solidFill>
              </a:rPr>
              <a:t> MOBILE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Student Mission Control.  Smart.  Simple.  Seamless. 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Future of Student Self-Service.</a:t>
            </a:r>
          </a:p>
        </p:txBody>
      </p:sp>
      <p:pic>
        <p:nvPicPr>
          <p:cNvPr id="11" name="Picture 6" descr="Edited image result">
            <a:extLst>
              <a:ext uri="{FF2B5EF4-FFF2-40B4-BE49-F238E27FC236}">
                <a16:creationId xmlns:a16="http://schemas.microsoft.com/office/drawing/2014/main" id="{AD5AADAC-CAE4-7E1B-3367-1620DA370D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4" t="66364" r="45827" b="31983"/>
          <a:stretch/>
        </p:blipFill>
        <p:spPr bwMode="auto">
          <a:xfrm>
            <a:off x="6620933" y="8602135"/>
            <a:ext cx="431800" cy="16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E7F0DB0-B64C-AF54-16AB-25EE10AC9B06}"/>
              </a:ext>
            </a:extLst>
          </p:cNvPr>
          <p:cNvSpPr txBox="1"/>
          <p:nvPr/>
        </p:nvSpPr>
        <p:spPr>
          <a:xfrm>
            <a:off x="541336" y="1862019"/>
            <a:ext cx="6689728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Student Mission Control in Every Pocket</a:t>
            </a: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Give students a single mobile home for schedule, communication, payments, attendance, and coursework. Less chaos, fewer lines at the front desk, cleaner data for staff.</a:t>
            </a: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What the Mobile App Delivers in Orbit</a:t>
            </a:r>
            <a:endParaRPr lang="en-US" sz="500" b="1" dirty="0">
              <a:solidFill>
                <a:schemeClr val="bg1"/>
              </a:solidFill>
            </a:endParaRPr>
          </a:p>
          <a:p>
            <a:pPr marL="171450" lvl="0" indent="-1714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800" b="1" dirty="0">
              <a:solidFill>
                <a:schemeClr val="bg1"/>
              </a:solidFill>
            </a:endParaRPr>
          </a:p>
          <a:p>
            <a:pPr marL="17145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bg1"/>
                </a:solidFill>
              </a:rPr>
              <a:t>Schedule + Alerts</a:t>
            </a:r>
            <a:r>
              <a:rPr lang="en-US" altLang="en-US" sz="1200" dirty="0">
                <a:solidFill>
                  <a:schemeClr val="bg1"/>
                </a:solidFill>
              </a:rPr>
              <a:t>: Live schedule with real-time changes, rooms, and push alerts.</a:t>
            </a:r>
          </a:p>
          <a:p>
            <a:pPr marL="17145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bg1"/>
                </a:solidFill>
              </a:rPr>
              <a:t>Chat + Messaging: </a:t>
            </a:r>
            <a:r>
              <a:rPr lang="en-US" altLang="en-US" sz="1200" dirty="0">
                <a:solidFill>
                  <a:schemeClr val="bg1"/>
                </a:solidFill>
              </a:rPr>
              <a:t>1:1 and group chat with instructors and classmates.</a:t>
            </a:r>
          </a:p>
          <a:p>
            <a:pPr marL="17145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bg1"/>
                </a:solidFill>
              </a:rPr>
              <a:t>Account + Holds: </a:t>
            </a:r>
            <a:r>
              <a:rPr lang="en-US" altLang="en-US" sz="1200" dirty="0">
                <a:solidFill>
                  <a:schemeClr val="bg1"/>
                </a:solidFill>
              </a:rPr>
              <a:t>Balance, payment history, and key holds in one place.</a:t>
            </a:r>
          </a:p>
          <a:p>
            <a:pPr marL="17145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bg1"/>
                </a:solidFill>
              </a:rPr>
              <a:t>In-App Payments: </a:t>
            </a:r>
            <a:r>
              <a:rPr lang="en-US" altLang="en-US" sz="1200" dirty="0">
                <a:solidFill>
                  <a:schemeClr val="bg1"/>
                </a:solidFill>
              </a:rPr>
              <a:t>Pay tuition and fees securely (cards handled by a PCI processor).</a:t>
            </a:r>
          </a:p>
          <a:p>
            <a:pPr marL="17145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bg1"/>
                </a:solidFill>
              </a:rPr>
              <a:t>Verified Attendance: </a:t>
            </a:r>
            <a:r>
              <a:rPr lang="en-US" altLang="en-US" sz="1200" dirty="0">
                <a:solidFill>
                  <a:schemeClr val="bg1"/>
                </a:solidFill>
              </a:rPr>
              <a:t>Check in/out with timestamped verification (QR, location, device options).</a:t>
            </a:r>
          </a:p>
          <a:p>
            <a:pPr marL="17145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bg1"/>
                </a:solidFill>
              </a:rPr>
              <a:t>Class Materials: </a:t>
            </a:r>
            <a:r>
              <a:rPr lang="en-US" altLang="en-US" sz="1200" dirty="0">
                <a:solidFill>
                  <a:schemeClr val="bg1"/>
                </a:solidFill>
              </a:rPr>
              <a:t>Syllabi, files, links, and announcements organized by class.</a:t>
            </a:r>
          </a:p>
          <a:p>
            <a:pPr marL="17145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bg1"/>
                </a:solidFill>
              </a:rPr>
              <a:t>Nudges + To-Dos: </a:t>
            </a:r>
            <a:r>
              <a:rPr lang="en-US" altLang="en-US" sz="1200" dirty="0">
                <a:solidFill>
                  <a:schemeClr val="bg1"/>
                </a:solidFill>
              </a:rPr>
              <a:t>Personalized reminders so students stop forgetting paperwork.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428AD-21AE-4C18-E65D-85F8ACFF22D9}"/>
              </a:ext>
            </a:extLst>
          </p:cNvPr>
          <p:cNvSpPr txBox="1"/>
          <p:nvPr/>
        </p:nvSpPr>
        <p:spPr>
          <a:xfrm>
            <a:off x="541335" y="6639531"/>
            <a:ext cx="6079598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Why Mobile + Verified Attendance Is Mission-Critical</a:t>
            </a:r>
            <a:endParaRPr lang="en-US" sz="500" b="1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800" dirty="0">
              <a:solidFill>
                <a:schemeClr val="bg1"/>
              </a:solidFill>
            </a:endParaRPr>
          </a:p>
          <a:p>
            <a: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1"/>
                </a:solidFill>
              </a:rPr>
              <a:t>Higher attendance compliance with timestamped proof, not guesswork.</a:t>
            </a:r>
          </a:p>
          <a:p>
            <a: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1"/>
                </a:solidFill>
              </a:rPr>
              <a:t>Fewer front-office interruptions because students self-serve schedule, chat, and  payments.</a:t>
            </a:r>
          </a:p>
          <a:p>
            <a: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1"/>
                </a:solidFill>
              </a:rPr>
              <a:t>Faster collections with in-app payments and automated nudges.</a:t>
            </a:r>
          </a:p>
          <a:p>
            <a: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1"/>
                </a:solidFill>
              </a:rPr>
              <a:t>Cleaner data for staff dashboards, audits, and funding reviews.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Ready for Launch?</a:t>
            </a:r>
          </a:p>
          <a:p>
            <a:endParaRPr lang="en-US" sz="5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Give every student mission control on day one with </a:t>
            </a:r>
            <a:r>
              <a:rPr lang="en-US" sz="1200" dirty="0" err="1">
                <a:solidFill>
                  <a:schemeClr val="bg1"/>
                </a:solidFill>
              </a:rPr>
              <a:t>ApolloSRM</a:t>
            </a:r>
            <a:r>
              <a:rPr lang="en-US" sz="1200" dirty="0">
                <a:solidFill>
                  <a:schemeClr val="bg1"/>
                </a:solidFill>
              </a:rPr>
              <a:t> Mobile. </a:t>
            </a:r>
          </a:p>
          <a:p>
            <a:r>
              <a:rPr lang="en-US" sz="1200" dirty="0">
                <a:solidFill>
                  <a:schemeClr val="bg1"/>
                </a:solidFill>
              </a:rPr>
              <a:t>Visit </a:t>
            </a:r>
            <a:r>
              <a:rPr lang="en-US" sz="1200" dirty="0" err="1">
                <a:solidFill>
                  <a:schemeClr val="bg1"/>
                </a:solidFill>
              </a:rPr>
              <a:t>www.apollosrm.com</a:t>
            </a:r>
            <a:r>
              <a:rPr lang="en-US" sz="1200" dirty="0">
                <a:solidFill>
                  <a:schemeClr val="bg1"/>
                </a:solidFill>
              </a:rPr>
              <a:t> to schedule a quick demo.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 err="1">
                <a:solidFill>
                  <a:schemeClr val="bg1"/>
                </a:solidFill>
              </a:rPr>
              <a:t>ApolloSRM</a:t>
            </a:r>
            <a:r>
              <a:rPr lang="en-US" sz="1200" dirty="0">
                <a:solidFill>
                  <a:schemeClr val="bg1"/>
                </a:solidFill>
              </a:rPr>
              <a:t>-guiding your institution from launchpad to orbit, and beyond.</a:t>
            </a:r>
          </a:p>
          <a:p>
            <a:br>
              <a:rPr lang="en-US" sz="1200" dirty="0">
                <a:solidFill>
                  <a:schemeClr val="bg1"/>
                </a:solidFill>
                <a:latin typeface="Lato" panose="020F0502020204030203" pitchFamily="34" charset="0"/>
              </a:rPr>
            </a:br>
            <a:endParaRPr lang="en-US" sz="12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pic>
        <p:nvPicPr>
          <p:cNvPr id="15" name="Picture 14" descr="A logo of a rocket and books&#10;&#10;AI-generated content may be incorrect.">
            <a:extLst>
              <a:ext uri="{FF2B5EF4-FFF2-40B4-BE49-F238E27FC236}">
                <a16:creationId xmlns:a16="http://schemas.microsoft.com/office/drawing/2014/main" id="{96FE99BF-E7E6-02A3-2F71-6C17DD06C868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2203317" y="5029199"/>
            <a:ext cx="3365766" cy="224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2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263</Words>
  <Application>Microsoft Macintosh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Anderson, Derek</dc:creator>
  <cp:lastModifiedBy>Derek Anderson</cp:lastModifiedBy>
  <cp:revision>5</cp:revision>
  <cp:lastPrinted>2026-02-01T21:00:51Z</cp:lastPrinted>
  <dcterms:created xsi:type="dcterms:W3CDTF">2025-07-14T22:17:59Z</dcterms:created>
  <dcterms:modified xsi:type="dcterms:W3CDTF">2026-02-01T21:01:07Z</dcterms:modified>
</cp:coreProperties>
</file>