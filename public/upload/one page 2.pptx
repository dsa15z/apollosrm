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7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F34"/>
    <a:srgbClr val="005487"/>
    <a:srgbClr val="00132C"/>
    <a:srgbClr val="005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37299-D0A0-7343-AB6B-3F669B7F98DD}" v="3" dt="2025-10-02T22:20:18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>
      <p:cViewPr>
        <p:scale>
          <a:sx n="90" d="100"/>
          <a:sy n="90" d="100"/>
        </p:scale>
        <p:origin x="3720" y="-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07B69-4DE4-D447-88A7-3976803187D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C6C90-D210-4347-885B-C0B0AA40F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23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C6C90-D210-4347-885B-C0B0AA40F4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4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5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66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2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3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8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5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7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5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5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2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0D280-A272-9E4C-A122-7195A106EE07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4307C-6357-5C4D-BA17-8F5B2900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96241FD-7B2D-2E7B-E7D6-C799BFEFEB8A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01F34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View generated image">
            <a:extLst>
              <a:ext uri="{FF2B5EF4-FFF2-40B4-BE49-F238E27FC236}">
                <a16:creationId xmlns:a16="http://schemas.microsoft.com/office/drawing/2014/main" id="{19599C34-F150-3BB0-2F48-A2083E909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11364"/>
          <a:stretch/>
        </p:blipFill>
        <p:spPr bwMode="auto">
          <a:xfrm>
            <a:off x="0" y="-1"/>
            <a:ext cx="7772400" cy="1005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dited image result">
            <a:extLst>
              <a:ext uri="{FF2B5EF4-FFF2-40B4-BE49-F238E27FC236}">
                <a16:creationId xmlns:a16="http://schemas.microsoft.com/office/drawing/2014/main" id="{211BB0F8-0A1F-ADFC-1C4B-CBCD48C6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666" y="5207011"/>
            <a:ext cx="5122333" cy="5122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with a rocket in the middle&#10;&#10;AI-generated content may be incorrect.">
            <a:extLst>
              <a:ext uri="{FF2B5EF4-FFF2-40B4-BE49-F238E27FC236}">
                <a16:creationId xmlns:a16="http://schemas.microsoft.com/office/drawing/2014/main" id="{70685B0A-8E40-62F1-CAF5-B1DCBE32FB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82" y="588433"/>
            <a:ext cx="1310217" cy="949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A62C84-67D9-CBD5-4ECA-FF58E2C6D0E5}"/>
              </a:ext>
            </a:extLst>
          </p:cNvPr>
          <p:cNvSpPr txBox="1"/>
          <p:nvPr/>
        </p:nvSpPr>
        <p:spPr>
          <a:xfrm>
            <a:off x="2245781" y="401398"/>
            <a:ext cx="44976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“All-in-One”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Mission Control </a:t>
            </a:r>
          </a:p>
          <a:p>
            <a:r>
              <a:rPr lang="en-US" sz="1600" dirty="0">
                <a:solidFill>
                  <a:schemeClr val="bg1"/>
                </a:solidFill>
              </a:rPr>
              <a:t>Smart.  Simple.  Seamless.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Future of Student Relationship Management.</a:t>
            </a:r>
          </a:p>
        </p:txBody>
      </p:sp>
      <p:pic>
        <p:nvPicPr>
          <p:cNvPr id="11" name="Picture 6" descr="Edited image result">
            <a:extLst>
              <a:ext uri="{FF2B5EF4-FFF2-40B4-BE49-F238E27FC236}">
                <a16:creationId xmlns:a16="http://schemas.microsoft.com/office/drawing/2014/main" id="{AD5AADAC-CAE4-7E1B-3367-1620DA370D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3B6C44"/>
              </a:clrFrom>
              <a:clrTo>
                <a:srgbClr val="3B6C44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66364" r="45827" b="31983"/>
          <a:stretch/>
        </p:blipFill>
        <p:spPr bwMode="auto">
          <a:xfrm>
            <a:off x="6620933" y="8602135"/>
            <a:ext cx="431800" cy="16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7F0DB0-B64C-AF54-16AB-25EE10AC9B06}"/>
              </a:ext>
            </a:extLst>
          </p:cNvPr>
          <p:cNvSpPr txBox="1"/>
          <p:nvPr/>
        </p:nvSpPr>
        <p:spPr>
          <a:xfrm>
            <a:off x="541336" y="2399122"/>
            <a:ext cx="6689728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One Platform, Zero Gravity</a:t>
            </a:r>
          </a:p>
          <a:p>
            <a:pPr>
              <a:buNone/>
            </a:pPr>
            <a:r>
              <a:rPr lang="en-US" sz="1200" dirty="0">
                <a:solidFill>
                  <a:schemeClr val="bg1"/>
                </a:solidFill>
              </a:rPr>
              <a:t>Dock your Student CRM, Applications, and SIS on one mission platform — no risky integrations, no sync drift.  Mission control from first signal to graduation: clearer telemetry, faster course‑corrections, lower burn, happier crews (students + staff).</a:t>
            </a:r>
          </a:p>
          <a:p>
            <a:endParaRPr lang="en-US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What “All‑in‑One” Delivers in Orbit</a:t>
            </a:r>
          </a:p>
          <a:p>
            <a:pPr>
              <a:buNone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Faster Decisions:</a:t>
            </a:r>
            <a:r>
              <a:rPr lang="en-US" sz="1200" dirty="0">
                <a:solidFill>
                  <a:schemeClr val="bg1"/>
                </a:solidFill>
              </a:rPr>
              <a:t> Inquiry → application → review → enrollment happens in real time — no handoffs or batch delays.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Trusted Data:</a:t>
            </a:r>
            <a:r>
              <a:rPr lang="en-US" sz="1200" dirty="0">
                <a:solidFill>
                  <a:schemeClr val="bg1"/>
                </a:solidFill>
              </a:rPr>
              <a:t> One student record end‑to‑end; fewer duplicates, fewer mismatches, fewer surprises.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Operational Clarity:</a:t>
            </a:r>
            <a:r>
              <a:rPr lang="en-US" sz="1200" dirty="0">
                <a:solidFill>
                  <a:schemeClr val="bg1"/>
                </a:solidFill>
              </a:rPr>
              <a:t> Recruiting, Admissions, Registrar, and Finance share one workspace and one set of checklists.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Better Student Experience:</a:t>
            </a:r>
            <a:r>
              <a:rPr lang="en-US" sz="1200" dirty="0">
                <a:solidFill>
                  <a:schemeClr val="bg1"/>
                </a:solidFill>
              </a:rPr>
              <a:t> One portal, one login, consistent notifications — more completions, higher yield and retention.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Lower Total Cost:</a:t>
            </a:r>
            <a:r>
              <a:rPr lang="en-US" sz="1200" dirty="0">
                <a:solidFill>
                  <a:schemeClr val="bg1"/>
                </a:solidFill>
              </a:rPr>
              <a:t> Retire connectors, API maintenance, and redundant point tools.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Analytics &amp; AI Ready:</a:t>
            </a:r>
            <a:r>
              <a:rPr lang="en-US" sz="1200" dirty="0">
                <a:solidFill>
                  <a:schemeClr val="bg1"/>
                </a:solidFill>
              </a:rPr>
              <a:t> Unified model powers accurate dashboards, forecasting, and next‑best‑action.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Compliance &amp; Audit:</a:t>
            </a:r>
            <a:r>
              <a:rPr lang="en-US" sz="1200" dirty="0">
                <a:solidFill>
                  <a:schemeClr val="bg1"/>
                </a:solidFill>
              </a:rPr>
              <a:t> Standard policies with full change history.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19569-2EE2-BDA7-586B-326CC8329CFB}"/>
              </a:ext>
            </a:extLst>
          </p:cNvPr>
          <p:cNvSpPr txBox="1"/>
          <p:nvPr/>
        </p:nvSpPr>
        <p:spPr>
          <a:xfrm>
            <a:off x="-6336632" y="-12193040"/>
            <a:ext cx="6156823" cy="302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One Platform, Zero Gravity Data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Dock your Student CRM, Applications, and SIS on one mission platform — no risky integrations, no sync drift.</a:t>
            </a: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Mission control from first signal to graduation: clearer telemetry, faster course‑corrections, lower burn, happier crews (students + staff).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Launch Benefits (at a glance)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Faster to T‑0 (Decision):</a:t>
            </a:r>
            <a:r>
              <a:rPr lang="en-US" dirty="0">
                <a:solidFill>
                  <a:schemeClr val="bg1"/>
                </a:solidFill>
              </a:rPr>
              <a:t> Inquiry → application → review → enrollment in real time. No orbital handoffs or nightly batch windows.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Single Source of Ground Truth:</a:t>
            </a:r>
            <a:r>
              <a:rPr lang="en-US" dirty="0">
                <a:solidFill>
                  <a:schemeClr val="bg1"/>
                </a:solidFill>
              </a:rPr>
              <a:t> One student record end‑to‑end; no duplicate constellations, no mismatched IDs.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Crew Efficiency:</a:t>
            </a:r>
            <a:r>
              <a:rPr lang="en-US" dirty="0">
                <a:solidFill>
                  <a:schemeClr val="bg1"/>
                </a:solidFill>
              </a:rPr>
              <a:t> Recruiting, Admissions, Registrar, and Finance operate from the same console and checklists.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Student Experience:</a:t>
            </a:r>
            <a:r>
              <a:rPr lang="en-US" dirty="0">
                <a:solidFill>
                  <a:schemeClr val="bg1"/>
                </a:solidFill>
              </a:rPr>
              <a:t> One portal, one call‑sign, consistent alerts — less friction, higher yield and retention.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Lower Fuel Costs:</a:t>
            </a:r>
            <a:r>
              <a:rPr lang="en-US" dirty="0">
                <a:solidFill>
                  <a:schemeClr val="bg1"/>
                </a:solidFill>
              </a:rPr>
              <a:t> Retire brittle connectors, API babysitting, and point‑solution licenses.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AI‑Ready Telemetry:</a:t>
            </a:r>
            <a:r>
              <a:rPr lang="en-US" dirty="0">
                <a:solidFill>
                  <a:schemeClr val="bg1"/>
                </a:solidFill>
              </a:rPr>
              <a:t> Unified data makes dashboards, forecasting, and next‑best‑action guidance reliable.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Compliance &amp; Black‑Box Recording:</a:t>
            </a:r>
            <a:r>
              <a:rPr lang="en-US" dirty="0">
                <a:solidFill>
                  <a:schemeClr val="bg1"/>
                </a:solidFill>
              </a:rPr>
              <a:t> Full audit trails of every event and adjustment across the flight.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What “All‑in‑One” Delivers in Orbit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1) Unified Flight Plan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Automated campaigns, checklists, document capture, and reminders keep applicants on trajectory.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Decisions instantly update SIS status, schedules, and funding steps — no reentry lag.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2) One Astronaut Record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Demographics, comms, docs, academics, and financials live together in one capsule.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CSV shuttles or “which system is right?” telemetry debates.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3) Live Mission Dashboards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Pipeline, yield, melt, attendance, SAP, and outcomes in a single view.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Drill from KPIs to the underlying student or activity — not yesterday’s export.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4) Policy Guidance Computer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Configurable rules for prerequisites, packaging, holds, and program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Built‑in audit satisfies accreditors and financial‑aid reviews.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5) Lower Risk, Higher Uptime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fragile docking adapters (middleware) to maintain.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One vendor to secure, one roadmap to align, one support line to mission control.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Measurable Impact (typical flight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+15–30%</a:t>
            </a:r>
            <a:r>
              <a:rPr lang="en-US" dirty="0">
                <a:solidFill>
                  <a:schemeClr val="bg1"/>
                </a:solidFill>
              </a:rPr>
              <a:t> faster application completion from guided checklists &amp; nudges.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−25–40%</a:t>
            </a:r>
            <a:r>
              <a:rPr lang="en-US" dirty="0">
                <a:solidFill>
                  <a:schemeClr val="bg1"/>
                </a:solidFill>
              </a:rPr>
              <a:t> staff time spent on reconciliation &amp; duplicate cleanup.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+5–10%</a:t>
            </a:r>
            <a:r>
              <a:rPr lang="en-US" dirty="0">
                <a:solidFill>
                  <a:schemeClr val="bg1"/>
                </a:solidFill>
              </a:rPr>
              <a:t> higher show‑rate &amp; first‑term retention via unified communications.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−20–35%</a:t>
            </a:r>
            <a:r>
              <a:rPr lang="en-US" dirty="0">
                <a:solidFill>
                  <a:schemeClr val="bg1"/>
                </a:solidFill>
              </a:rPr>
              <a:t> lower tech spend by retiring connectors and point tools.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Consolidation typically reaches escape velocity on ROI in months, not years.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Why “No Integrations” Is Mission‑Critical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Integrations </a:t>
            </a:r>
            <a:r>
              <a:rPr lang="en-US" b="1" dirty="0">
                <a:solidFill>
                  <a:schemeClr val="bg1"/>
                </a:solidFill>
              </a:rPr>
              <a:t>age and break</a:t>
            </a:r>
            <a:r>
              <a:rPr lang="en-US" dirty="0">
                <a:solidFill>
                  <a:schemeClr val="bg1"/>
                </a:solidFill>
              </a:rPr>
              <a:t> with every vendor update.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Field mappings and security policies </a:t>
            </a:r>
            <a:r>
              <a:rPr lang="en-US" b="1" dirty="0">
                <a:solidFill>
                  <a:schemeClr val="bg1"/>
                </a:solidFill>
              </a:rPr>
              <a:t>drift</a:t>
            </a:r>
            <a:r>
              <a:rPr lang="en-US" dirty="0">
                <a:solidFill>
                  <a:schemeClr val="bg1"/>
                </a:solidFill>
              </a:rPr>
              <a:t>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Batch syncs create </a:t>
            </a:r>
            <a:r>
              <a:rPr lang="en-US" b="1" dirty="0">
                <a:solidFill>
                  <a:schemeClr val="bg1"/>
                </a:solidFill>
              </a:rPr>
              <a:t>blind spots</a:t>
            </a:r>
            <a:r>
              <a:rPr lang="en-US" dirty="0">
                <a:solidFill>
                  <a:schemeClr val="bg1"/>
                </a:solidFill>
              </a:rPr>
              <a:t> that delay action and degrade AI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One platform keeps </a:t>
            </a:r>
            <a:r>
              <a:rPr lang="en-US" b="1" dirty="0">
                <a:solidFill>
                  <a:schemeClr val="bg1"/>
                </a:solidFill>
              </a:rPr>
              <a:t>roles, security, and governance</a:t>
            </a:r>
            <a:r>
              <a:rPr lang="en-US" dirty="0">
                <a:solidFill>
                  <a:schemeClr val="bg1"/>
                </a:solidFill>
              </a:rPr>
              <a:t> coherent and enforceable.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Day‑to‑Day in Mission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Recruiters see CRM tasks + app status + holds </a:t>
            </a:r>
            <a:r>
              <a:rPr lang="en-US" b="1" dirty="0">
                <a:solidFill>
                  <a:schemeClr val="bg1"/>
                </a:solidFill>
              </a:rPr>
              <a:t>on one screen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Admissions decisions trigger SIS updates </a:t>
            </a:r>
            <a:r>
              <a:rPr lang="en-US" b="1" dirty="0">
                <a:solidFill>
                  <a:schemeClr val="bg1"/>
                </a:solidFill>
              </a:rPr>
              <a:t>instantly</a:t>
            </a:r>
            <a:r>
              <a:rPr lang="en-US" dirty="0">
                <a:solidFill>
                  <a:schemeClr val="bg1"/>
                </a:solidFill>
              </a:rPr>
              <a:t> (program, start date, schedule).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Students receive </a:t>
            </a:r>
            <a:r>
              <a:rPr lang="en-US" b="1" dirty="0">
                <a:solidFill>
                  <a:schemeClr val="bg1"/>
                </a:solidFill>
              </a:rPr>
              <a:t>one flight plan</a:t>
            </a:r>
            <a:r>
              <a:rPr lang="en-US" dirty="0">
                <a:solidFill>
                  <a:schemeClr val="bg1"/>
                </a:solidFill>
              </a:rPr>
              <a:t> of alerts for to‑dos, class changes, and financial steps.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Leaders track a live funnel through SAP and graduation </a:t>
            </a:r>
            <a:r>
              <a:rPr lang="en-US" b="1" dirty="0">
                <a:solidFill>
                  <a:schemeClr val="bg1"/>
                </a:solidFill>
              </a:rPr>
              <a:t>without spreadsheet EVA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Systems Map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CRM &amp; Applications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Lead capture • omni‑channel comms • checklists • e‑sign docs • reviewer queues • decision letters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SIS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Program/catalog • schedules &amp; attendance • grades &amp; SAP • financials &amp; ledgers • transcripts • compliance exports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Analytics &amp; AI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Cohort dashboards • yield &amp; melt forecasting • risk scoring • next‑best‑action • audit logs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Rollout Flight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Phased launch</a:t>
            </a:r>
            <a:r>
              <a:rPr lang="en-US" dirty="0">
                <a:solidFill>
                  <a:schemeClr val="bg1"/>
                </a:solidFill>
              </a:rPr>
              <a:t> (Admissions first, then SIS modules).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Data migration</a:t>
            </a:r>
            <a:r>
              <a:rPr lang="en-US" dirty="0">
                <a:solidFill>
                  <a:schemeClr val="bg1"/>
                </a:solidFill>
              </a:rPr>
              <a:t> with dedupe &amp; matching rules built 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Role‑based training</a:t>
            </a:r>
            <a:r>
              <a:rPr lang="en-US" dirty="0">
                <a:solidFill>
                  <a:schemeClr val="bg1"/>
                </a:solidFill>
              </a:rPr>
              <a:t> and change‑management checklists.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Ready for a Test Flight?</a:t>
            </a: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Book a 20‑minute demo</a:t>
            </a:r>
            <a:r>
              <a:rPr lang="en-US" dirty="0">
                <a:solidFill>
                  <a:schemeClr val="bg1"/>
                </a:solidFill>
              </a:rPr>
              <a:t> to compare your current stack to a unified mission platform — and leave with a tailored ROI model.</a:t>
            </a:r>
          </a:p>
          <a:p>
            <a:pPr>
              <a:buNone/>
            </a:pPr>
            <a:r>
              <a:rPr lang="en-US" i="1" dirty="0" err="1">
                <a:solidFill>
                  <a:schemeClr val="bg1"/>
                </a:solidFill>
              </a:rPr>
              <a:t>ApolloSRM</a:t>
            </a:r>
            <a:r>
              <a:rPr lang="en-US" i="1" dirty="0">
                <a:solidFill>
                  <a:schemeClr val="bg1"/>
                </a:solidFill>
              </a:rPr>
              <a:t> • Logo • Contact • URL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428AD-21AE-4C18-E65D-85F8ACFF22D9}"/>
              </a:ext>
            </a:extLst>
          </p:cNvPr>
          <p:cNvSpPr txBox="1"/>
          <p:nvPr/>
        </p:nvSpPr>
        <p:spPr>
          <a:xfrm>
            <a:off x="541335" y="7088711"/>
            <a:ext cx="6079598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Why “No Integrations” Is Mission‑Critical</a:t>
            </a:r>
          </a:p>
          <a:p>
            <a:pPr>
              <a:buNone/>
            </a:pPr>
            <a:endParaRPr lang="en-US" sz="5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Integrations age and break with every vendor update.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Field mappings and security policies drift over time.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Batch syncs create blind spots that delay action and degrade AI models.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5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One platform keeps roles, security, and governance coherent and enforceable.</a:t>
            </a:r>
          </a:p>
          <a:p>
            <a:endParaRPr lang="en-US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endParaRPr lang="en-US" sz="12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Ready for Launch?</a:t>
            </a:r>
          </a:p>
          <a:p>
            <a:endParaRPr lang="en-US" sz="500" dirty="0">
              <a:solidFill>
                <a:schemeClr val="accent1">
                  <a:lumMod val="40000"/>
                  <a:lumOff val="60000"/>
                </a:schemeClr>
              </a:solidFill>
              <a:latin typeface="Lato" panose="020F0502020204030203" pitchFamily="34" charset="0"/>
            </a:endParaRPr>
          </a:p>
          <a:p>
            <a:r>
              <a:rPr lang="en-US" sz="1200" dirty="0">
                <a:solidFill>
                  <a:schemeClr val="accent1">
                    <a:lumMod val="40000"/>
                    <a:lumOff val="60000"/>
                  </a:schemeClr>
                </a:solidFill>
                <a:latin typeface="Lato" panose="020F0502020204030203" pitchFamily="34" charset="0"/>
              </a:rPr>
              <a:t>Take one small step for your institution and one giant leap for student success with </a:t>
            </a:r>
            <a:r>
              <a:rPr lang="en-US" sz="12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Lato" panose="020F0502020204030203" pitchFamily="34" charset="0"/>
              </a:rPr>
              <a:t>ApolloSRM</a:t>
            </a: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</a:rPr>
              <a:t>. Let's ignite your institutional potential together!</a:t>
            </a:r>
          </a:p>
          <a:p>
            <a:endParaRPr lang="en-US" sz="500" dirty="0">
              <a:solidFill>
                <a:schemeClr val="bg1"/>
              </a:solidFill>
              <a:latin typeface="Lato" panose="020F0502020204030203" pitchFamily="34" charset="0"/>
            </a:endParaRPr>
          </a:p>
          <a:p>
            <a:r>
              <a:rPr lang="en-US" sz="1200" dirty="0" err="1">
                <a:solidFill>
                  <a:schemeClr val="bg1"/>
                </a:solidFill>
                <a:latin typeface="Lato" panose="020F0502020204030203" pitchFamily="34" charset="0"/>
              </a:rPr>
              <a:t>ApolloSRM</a:t>
            </a:r>
            <a:r>
              <a:rPr lang="en-US" sz="1200" dirty="0">
                <a:solidFill>
                  <a:schemeClr val="bg1"/>
                </a:solidFill>
                <a:latin typeface="Lato" panose="020F0502020204030203" pitchFamily="34" charset="0"/>
              </a:rPr>
              <a:t>—guiding your institution from launchpad to orbit, and beyond.</a:t>
            </a:r>
          </a:p>
          <a:p>
            <a:br>
              <a:rPr lang="en-US" sz="1200" dirty="0">
                <a:solidFill>
                  <a:schemeClr val="bg1"/>
                </a:solidFill>
                <a:latin typeface="Lato" panose="020F0502020204030203" pitchFamily="34" charset="0"/>
              </a:rPr>
            </a:br>
            <a:endParaRPr lang="en-US" sz="1200" dirty="0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92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1040</Words>
  <Application>Microsoft Macintosh PowerPoint</Application>
  <PresentationFormat>Custom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Anderson, Derek</dc:creator>
  <cp:lastModifiedBy>Derek Anderson</cp:lastModifiedBy>
  <cp:revision>3</cp:revision>
  <dcterms:created xsi:type="dcterms:W3CDTF">2025-07-14T22:17:59Z</dcterms:created>
  <dcterms:modified xsi:type="dcterms:W3CDTF">2025-10-02T22:22:30Z</dcterms:modified>
</cp:coreProperties>
</file>