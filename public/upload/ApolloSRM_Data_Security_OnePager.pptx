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34"/>
    <a:srgbClr val="005487"/>
    <a:srgbClr val="00132C"/>
    <a:srgbClr val="005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0"/>
  </p:normalViewPr>
  <p:slideViewPr>
    <p:cSldViewPr snapToGrid="0">
      <p:cViewPr>
        <p:scale>
          <a:sx n="125" d="100"/>
          <a:sy n="125" d="100"/>
        </p:scale>
        <p:origin x="19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07B69-4DE4-D447-88A7-3976803187D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C6C90-D210-4347-885B-C0B0AA40F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C6C90-D210-4347-885B-C0B0AA40F4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2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3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7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D280-A272-9E4C-A122-7195A106EE0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6241FD-7B2D-2E7B-E7D6-C799BFEFEB8A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01F3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ew generated image">
            <a:extLst>
              <a:ext uri="{FF2B5EF4-FFF2-40B4-BE49-F238E27FC236}">
                <a16:creationId xmlns:a16="http://schemas.microsoft.com/office/drawing/2014/main" id="{19599C34-F150-3BB0-2F48-A2083E909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/>
        </p:blipFill>
        <p:spPr bwMode="auto">
          <a:xfrm>
            <a:off x="0" y="-1"/>
            <a:ext cx="7772400" cy="100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dited image result">
            <a:extLst>
              <a:ext uri="{FF2B5EF4-FFF2-40B4-BE49-F238E27FC236}">
                <a16:creationId xmlns:a16="http://schemas.microsoft.com/office/drawing/2014/main" id="{211BB0F8-0A1F-ADFC-1C4B-CBCD48C6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66" y="5207011"/>
            <a:ext cx="5122333" cy="512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rocket in the middle&#10;&#10;AI-generated content may be incorrect.">
            <a:extLst>
              <a:ext uri="{FF2B5EF4-FFF2-40B4-BE49-F238E27FC236}">
                <a16:creationId xmlns:a16="http://schemas.microsoft.com/office/drawing/2014/main" id="{70685B0A-8E40-62F1-CAF5-B1DCBE32F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82" y="588433"/>
            <a:ext cx="1310217" cy="9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62C84-67D9-CBD5-4ECA-FF58E2C6D0E5}"/>
              </a:ext>
            </a:extLst>
          </p:cNvPr>
          <p:cNvSpPr txBox="1"/>
          <p:nvPr/>
        </p:nvSpPr>
        <p:spPr>
          <a:xfrm>
            <a:off x="1918456" y="395013"/>
            <a:ext cx="5713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0EBFF"/>
                </a:solidFill>
              </a:rPr>
              <a:t>Data Security Overview </a:t>
            </a:r>
          </a:p>
          <a:p>
            <a:r>
              <a:rPr lang="en-US" sz="1600" dirty="0">
                <a:solidFill>
                  <a:schemeClr val="bg1"/>
                </a:solidFill>
              </a:rPr>
              <a:t>Smart.  Simple.  Seamless. </a:t>
            </a:r>
            <a:r>
              <a:rPr lang="en-US" sz="1600" b="1" dirty="0">
                <a:solidFill>
                  <a:schemeClr val="bg1"/>
                </a:solidFill>
              </a:rPr>
              <a:t>AND SECURE.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Future of Student Relationship Management.</a:t>
            </a:r>
          </a:p>
        </p:txBody>
      </p:sp>
      <p:pic>
        <p:nvPicPr>
          <p:cNvPr id="11" name="Picture 6" descr="Edited image result">
            <a:extLst>
              <a:ext uri="{FF2B5EF4-FFF2-40B4-BE49-F238E27FC236}">
                <a16:creationId xmlns:a16="http://schemas.microsoft.com/office/drawing/2014/main" id="{AD5AADAC-CAE4-7E1B-3367-1620DA370D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66364" r="45827" b="31983"/>
          <a:stretch/>
        </p:blipFill>
        <p:spPr bwMode="auto">
          <a:xfrm>
            <a:off x="6620933" y="8602135"/>
            <a:ext cx="431800" cy="1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7F0DB0-B64C-AF54-16AB-25EE10AC9B06}"/>
              </a:ext>
            </a:extLst>
          </p:cNvPr>
          <p:cNvSpPr txBox="1"/>
          <p:nvPr/>
        </p:nvSpPr>
        <p:spPr>
          <a:xfrm>
            <a:off x="541336" y="1862019"/>
            <a:ext cx="6689728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Flight Controls: How </a:t>
            </a:r>
            <a:r>
              <a:rPr lang="en-US" b="1" dirty="0" err="1">
                <a:solidFill>
                  <a:schemeClr val="bg1"/>
                </a:solidFill>
              </a:rPr>
              <a:t>ApolloSRM</a:t>
            </a:r>
            <a:r>
              <a:rPr lang="en-US" b="1" dirty="0">
                <a:solidFill>
                  <a:schemeClr val="bg1"/>
                </a:solidFill>
              </a:rPr>
              <a:t> Secures PII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Multi-tenant SIS on AWS; prod/stage/dev isolated by account and VPC.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Private subnets for app/data tiers; least-privilege Security Groups and NACLs.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ALB/CloudFront at the edge; AWS WAF and Shield in front.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TLS 1.2+ on all endpoints with HSTS.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>
                <a:solidFill>
                  <a:schemeClr val="bg1"/>
                </a:solidFill>
              </a:rPr>
              <a:t>ApolloSRM</a:t>
            </a:r>
            <a:r>
              <a:rPr lang="en-US" b="1" dirty="0">
                <a:solidFill>
                  <a:schemeClr val="bg1"/>
                </a:solidFill>
              </a:rPr>
              <a:t> Shield: Cloud-Native PII Defense</a:t>
            </a:r>
          </a:p>
          <a:p>
            <a:pPr>
              <a:buNone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PII encrypted at rest with AES-256 (SSE-KMS); in transit with TLS 1.2+.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KMS key rotation and strict key policies.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Secrets in AWS Secrets Manager/Parameter Store; no secrets in code/images.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S3 Block Public Access; object lock for critical logs/backups.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Federated SSO with MFA for admins; no long-lived access keys.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Least-privilege IAM roles; application RBAC with audit trails.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Secure SDLC: code review, SAST/DAST, dependency and image scanning.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OWASP Top 10 controls: validation, output encoding, CSRF, CSP, rate limiting.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28AD-21AE-4C18-E65D-85F8ACFF22D9}"/>
              </a:ext>
            </a:extLst>
          </p:cNvPr>
          <p:cNvSpPr txBox="1"/>
          <p:nvPr/>
        </p:nvSpPr>
        <p:spPr>
          <a:xfrm>
            <a:off x="541335" y="6055913"/>
            <a:ext cx="6079598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Ground Control to Data Integrity: </a:t>
            </a:r>
            <a:r>
              <a:rPr lang="en-US" b="1" dirty="0" err="1">
                <a:solidFill>
                  <a:schemeClr val="bg1"/>
                </a:solidFill>
              </a:rPr>
              <a:t>ApolloSRM</a:t>
            </a:r>
            <a:r>
              <a:rPr lang="en-US" b="1" dirty="0">
                <a:solidFill>
                  <a:schemeClr val="bg1"/>
                </a:solidFill>
              </a:rPr>
              <a:t> Security</a:t>
            </a:r>
          </a:p>
          <a:p>
            <a:pPr>
              <a:buNone/>
            </a:pPr>
            <a:endParaRPr lang="en-US" sz="5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Centralized logging with immutable S3 retention.</a:t>
            </a: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24×7 alerting with runbooks and on-call escalation.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Backups: daily encrypted snapshots; RDS point-in-time recovery; Multi-AZ.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Targets: RTO ≤ 4h, RPO ≤ 15m; 30–90-day retention with vault lock.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Privacy/compliance: FERPA-ready, SOC 2-aligned; GDPR/CCPA via DPA/SCCs.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Data minimization; tenant-level deletion on request/termination.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</a:rPr>
              <a:t>Subprocessors</a:t>
            </a:r>
            <a:r>
              <a:rPr lang="en-US" sz="1200" b="1" dirty="0">
                <a:solidFill>
                  <a:schemeClr val="bg1"/>
                </a:solidFill>
              </a:rPr>
              <a:t> disclosed; payment cards handled only by PCI processor.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Incident response: triage → containment → eradication → recovery → post-mortem.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Customer notification without undue delay; within 72h if reportable..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Ready for Launch?</a:t>
            </a:r>
          </a:p>
          <a:p>
            <a:endParaRPr lang="en-US" sz="500" dirty="0">
              <a:solidFill>
                <a:schemeClr val="accent1">
                  <a:lumMod val="40000"/>
                  <a:lumOff val="60000"/>
                </a:schemeClr>
              </a:solidFill>
              <a:latin typeface="Lato" panose="020F0502020204030203" pitchFamily="34" charset="0"/>
            </a:endParaRPr>
          </a:p>
          <a:p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" panose="020F0502020204030203" pitchFamily="34" charset="0"/>
              </a:rPr>
              <a:t>Take one small step for your institution and one giant leap for student success with </a:t>
            </a:r>
            <a:r>
              <a:rPr lang="en-US" sz="1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Lato" panose="020F0502020204030203" pitchFamily="34" charset="0"/>
              </a:rPr>
              <a:t>ApolloSRM</a:t>
            </a: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  <a:t>. Let's ignite your institutional potential together!</a:t>
            </a:r>
          </a:p>
          <a:p>
            <a:endParaRPr lang="en-US" sz="5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b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92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334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Anderson, Derek</dc:creator>
  <cp:lastModifiedBy>Derek Anderson</cp:lastModifiedBy>
  <cp:revision>4</cp:revision>
  <dcterms:created xsi:type="dcterms:W3CDTF">2025-07-14T22:17:59Z</dcterms:created>
  <dcterms:modified xsi:type="dcterms:W3CDTF">2025-10-30T18:28:00Z</dcterms:modified>
</cp:coreProperties>
</file>