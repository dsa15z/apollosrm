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57" r:id="rId2"/>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F34"/>
    <a:srgbClr val="005487"/>
    <a:srgbClr val="00132C"/>
    <a:srgbClr val="0050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5"/>
  </p:normalViewPr>
  <p:slideViewPr>
    <p:cSldViewPr snapToGrid="0">
      <p:cViewPr>
        <p:scale>
          <a:sx n="110" d="100"/>
          <a:sy n="110" d="100"/>
        </p:scale>
        <p:origin x="2696" y="-1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07B69-4DE4-D447-88A7-3976803187DB}" type="datetimeFigureOut">
              <a:rPr lang="en-US" smtClean="0"/>
              <a:t>7/23/25</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BC6C90-D210-4347-885B-C0B0AA40F482}" type="slidenum">
              <a:rPr lang="en-US" smtClean="0"/>
              <a:t>‹#›</a:t>
            </a:fld>
            <a:endParaRPr lang="en-US"/>
          </a:p>
        </p:txBody>
      </p:sp>
    </p:spTree>
    <p:extLst>
      <p:ext uri="{BB962C8B-B14F-4D97-AF65-F5344CB8AC3E}">
        <p14:creationId xmlns:p14="http://schemas.microsoft.com/office/powerpoint/2010/main" val="2809323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BC6C90-D210-4347-885B-C0B0AA40F482}" type="slidenum">
              <a:rPr lang="en-US" smtClean="0"/>
              <a:t>1</a:t>
            </a:fld>
            <a:endParaRPr lang="en-US"/>
          </a:p>
        </p:txBody>
      </p:sp>
    </p:spTree>
    <p:extLst>
      <p:ext uri="{BB962C8B-B14F-4D97-AF65-F5344CB8AC3E}">
        <p14:creationId xmlns:p14="http://schemas.microsoft.com/office/powerpoint/2010/main" val="578842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00D280-A272-9E4C-A122-7195A106EE07}" type="datetimeFigureOut">
              <a:rPr lang="en-US" smtClean="0"/>
              <a:t>7/23/25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2406453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00D280-A272-9E4C-A122-7195A106EE07}" type="datetimeFigureOut">
              <a:rPr lang="en-US" smtClean="0"/>
              <a:t>7/23/25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2379366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tint val="82000"/>
                  </a:schemeClr>
                </a:solidFill>
              </a:defRPr>
            </a:lvl1pPr>
            <a:lvl2pPr marL="388620" indent="0">
              <a:buNone/>
              <a:defRPr sz="1700">
                <a:solidFill>
                  <a:schemeClr val="tx1">
                    <a:tint val="82000"/>
                  </a:schemeClr>
                </a:solidFill>
              </a:defRPr>
            </a:lvl2pPr>
            <a:lvl3pPr marL="777240" indent="0">
              <a:buNone/>
              <a:defRPr sz="1530">
                <a:solidFill>
                  <a:schemeClr val="tx1">
                    <a:tint val="82000"/>
                  </a:schemeClr>
                </a:solidFill>
              </a:defRPr>
            </a:lvl3pPr>
            <a:lvl4pPr marL="1165860" indent="0">
              <a:buNone/>
              <a:defRPr sz="1360">
                <a:solidFill>
                  <a:schemeClr val="tx1">
                    <a:tint val="82000"/>
                  </a:schemeClr>
                </a:solidFill>
              </a:defRPr>
            </a:lvl4pPr>
            <a:lvl5pPr marL="1554480" indent="0">
              <a:buNone/>
              <a:defRPr sz="1360">
                <a:solidFill>
                  <a:schemeClr val="tx1">
                    <a:tint val="82000"/>
                  </a:schemeClr>
                </a:solidFill>
              </a:defRPr>
            </a:lvl5pPr>
            <a:lvl6pPr marL="1943100" indent="0">
              <a:buNone/>
              <a:defRPr sz="1360">
                <a:solidFill>
                  <a:schemeClr val="tx1">
                    <a:tint val="82000"/>
                  </a:schemeClr>
                </a:solidFill>
              </a:defRPr>
            </a:lvl6pPr>
            <a:lvl7pPr marL="2331720" indent="0">
              <a:buNone/>
              <a:defRPr sz="1360">
                <a:solidFill>
                  <a:schemeClr val="tx1">
                    <a:tint val="82000"/>
                  </a:schemeClr>
                </a:solidFill>
              </a:defRPr>
            </a:lvl7pPr>
            <a:lvl8pPr marL="2720340" indent="0">
              <a:buNone/>
              <a:defRPr sz="1360">
                <a:solidFill>
                  <a:schemeClr val="tx1">
                    <a:tint val="82000"/>
                  </a:schemeClr>
                </a:solidFill>
              </a:defRPr>
            </a:lvl8pPr>
            <a:lvl9pPr marL="3108960" indent="0">
              <a:buNone/>
              <a:defRPr sz="13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00D280-A272-9E4C-A122-7195A106EE07}" type="datetimeFigureOut">
              <a:rPr lang="en-US" smtClean="0"/>
              <a:t>7/23/25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1140421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00D280-A272-9E4C-A122-7195A106EE07}" type="datetimeFigureOut">
              <a:rPr lang="en-US" smtClean="0"/>
              <a:t>7/23/25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3942374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00D280-A272-9E4C-A122-7195A106EE07}" type="datetimeFigureOut">
              <a:rPr lang="en-US" smtClean="0"/>
              <a:t>7/23/25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802233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00D280-A272-9E4C-A122-7195A106EE07}" type="datetimeFigureOut">
              <a:rPr lang="en-US" smtClean="0"/>
              <a:t>7/23/25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89358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00D280-A272-9E4C-A122-7195A106EE07}" type="datetimeFigureOut">
              <a:rPr lang="en-US" smtClean="0"/>
              <a:t>7/23/25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2612459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C000D280-A272-9E4C-A122-7195A106EE07}" type="datetimeFigureOut">
              <a:rPr lang="en-US" smtClean="0"/>
              <a:t>7/23/25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157417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C000D280-A272-9E4C-A122-7195A106EE07}" type="datetimeFigureOut">
              <a:rPr lang="en-US" smtClean="0"/>
              <a:t>7/23/25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494753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00D280-A272-9E4C-A122-7195A106EE07}" type="datetimeFigureOut">
              <a:rPr lang="en-US" smtClean="0"/>
              <a:t>7/23/25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1444554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00D280-A272-9E4C-A122-7195A106EE07}" type="datetimeFigureOut">
              <a:rPr lang="en-US" smtClean="0"/>
              <a:t>7/23/25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24307C-6357-5C4D-BA17-8F5B29003EDE}" type="slidenum">
              <a:rPr lang="en-US" smtClean="0"/>
              <a:t>‹#›</a:t>
            </a:fld>
            <a:endParaRPr lang="en-US"/>
          </a:p>
        </p:txBody>
      </p:sp>
    </p:spTree>
    <p:extLst>
      <p:ext uri="{BB962C8B-B14F-4D97-AF65-F5344CB8AC3E}">
        <p14:creationId xmlns:p14="http://schemas.microsoft.com/office/powerpoint/2010/main" val="2457828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82000"/>
                  </a:schemeClr>
                </a:solidFill>
              </a:defRPr>
            </a:lvl1pPr>
          </a:lstStyle>
          <a:p>
            <a:fld id="{C000D280-A272-9E4C-A122-7195A106EE07}" type="datetimeFigureOut">
              <a:rPr lang="en-US" smtClean="0"/>
              <a:t>7/23/25</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82000"/>
                  </a:schemeClr>
                </a:solidFill>
              </a:defRPr>
            </a:lvl1pPr>
          </a:lstStyle>
          <a:p>
            <a:fld id="{F424307C-6357-5C4D-BA17-8F5B29003EDE}" type="slidenum">
              <a:rPr lang="en-US" smtClean="0"/>
              <a:t>‹#›</a:t>
            </a:fld>
            <a:endParaRPr lang="en-US"/>
          </a:p>
        </p:txBody>
      </p:sp>
    </p:spTree>
    <p:extLst>
      <p:ext uri="{BB962C8B-B14F-4D97-AF65-F5344CB8AC3E}">
        <p14:creationId xmlns:p14="http://schemas.microsoft.com/office/powerpoint/2010/main" val="32454627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96241FD-7B2D-2E7B-E7D6-C799BFEFEB8A}"/>
              </a:ext>
            </a:extLst>
          </p:cNvPr>
          <p:cNvSpPr/>
          <p:nvPr/>
        </p:nvSpPr>
        <p:spPr>
          <a:xfrm>
            <a:off x="0" y="0"/>
            <a:ext cx="7772400" cy="10058400"/>
          </a:xfrm>
          <a:prstGeom prst="rect">
            <a:avLst/>
          </a:prstGeom>
          <a:solidFill>
            <a:srgbClr val="101F34"/>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View generated image">
            <a:extLst>
              <a:ext uri="{FF2B5EF4-FFF2-40B4-BE49-F238E27FC236}">
                <a16:creationId xmlns:a16="http://schemas.microsoft.com/office/drawing/2014/main" id="{19599C34-F150-3BB0-2F48-A2083E909719}"/>
              </a:ext>
            </a:extLst>
          </p:cNvPr>
          <p:cNvPicPr>
            <a:picLocks noChangeAspect="1" noChangeArrowheads="1"/>
          </p:cNvPicPr>
          <p:nvPr/>
        </p:nvPicPr>
        <p:blipFill rotWithShape="1">
          <a:blip r:embed="rId3">
            <a:alphaModFix amt="43000"/>
            <a:extLst>
              <a:ext uri="{28A0092B-C50C-407E-A947-70E740481C1C}">
                <a14:useLocalDpi xmlns:a14="http://schemas.microsoft.com/office/drawing/2010/main" val="0"/>
              </a:ext>
            </a:extLst>
          </a:blip>
          <a:srcRect l="11364" r="11364"/>
          <a:stretch/>
        </p:blipFill>
        <p:spPr bwMode="auto">
          <a:xfrm>
            <a:off x="0" y="-1"/>
            <a:ext cx="7772400" cy="100584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dited image result">
            <a:extLst>
              <a:ext uri="{FF2B5EF4-FFF2-40B4-BE49-F238E27FC236}">
                <a16:creationId xmlns:a16="http://schemas.microsoft.com/office/drawing/2014/main" id="{211BB0F8-0A1F-ADFC-1C4B-CBCD48C622DF}"/>
              </a:ext>
            </a:extLst>
          </p:cNvPr>
          <p:cNvPicPr>
            <a:picLocks noChangeAspect="1" noChangeArrowheads="1"/>
          </p:cNvPicPr>
          <p:nvPr/>
        </p:nvPicPr>
        <p:blipFill>
          <a:blip r:embed="rId4">
            <a:clrChange>
              <a:clrFrom>
                <a:srgbClr val="3B6C44"/>
              </a:clrFrom>
              <a:clrTo>
                <a:srgbClr val="3B6C44">
                  <a:alpha val="0"/>
                </a:srgbClr>
              </a:clrTo>
            </a:clrChange>
            <a:extLst>
              <a:ext uri="{28A0092B-C50C-407E-A947-70E740481C1C}">
                <a14:useLocalDpi xmlns:a14="http://schemas.microsoft.com/office/drawing/2010/main" val="0"/>
              </a:ext>
            </a:extLst>
          </a:blip>
          <a:srcRect/>
          <a:stretch>
            <a:fillRect/>
          </a:stretch>
        </p:blipFill>
        <p:spPr bwMode="auto">
          <a:xfrm>
            <a:off x="4275666" y="5207011"/>
            <a:ext cx="5122333" cy="512233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logo with a rocket in the middle&#10;&#10;AI-generated content may be incorrect.">
            <a:extLst>
              <a:ext uri="{FF2B5EF4-FFF2-40B4-BE49-F238E27FC236}">
                <a16:creationId xmlns:a16="http://schemas.microsoft.com/office/drawing/2014/main" id="{70685B0A-8E40-62F1-CAF5-B1DCBE32FB78}"/>
              </a:ext>
            </a:extLst>
          </p:cNvPr>
          <p:cNvPicPr>
            <a:picLocks noChangeAspect="1"/>
          </p:cNvPicPr>
          <p:nvPr/>
        </p:nvPicPr>
        <p:blipFill>
          <a:blip r:embed="rId5"/>
          <a:stretch>
            <a:fillRect/>
          </a:stretch>
        </p:blipFill>
        <p:spPr>
          <a:xfrm>
            <a:off x="467782" y="588433"/>
            <a:ext cx="1310217" cy="949370"/>
          </a:xfrm>
          <a:prstGeom prst="rect">
            <a:avLst/>
          </a:prstGeom>
        </p:spPr>
      </p:pic>
      <p:sp>
        <p:nvSpPr>
          <p:cNvPr id="10" name="TextBox 9">
            <a:extLst>
              <a:ext uri="{FF2B5EF4-FFF2-40B4-BE49-F238E27FC236}">
                <a16:creationId xmlns:a16="http://schemas.microsoft.com/office/drawing/2014/main" id="{0EA62C84-67D9-CBD5-4ECA-FF58E2C6D0E5}"/>
              </a:ext>
            </a:extLst>
          </p:cNvPr>
          <p:cNvSpPr txBox="1"/>
          <p:nvPr/>
        </p:nvSpPr>
        <p:spPr>
          <a:xfrm>
            <a:off x="2245781" y="401398"/>
            <a:ext cx="4879028" cy="1815882"/>
          </a:xfrm>
          <a:prstGeom prst="rect">
            <a:avLst/>
          </a:prstGeom>
          <a:noFill/>
        </p:spPr>
        <p:txBody>
          <a:bodyPr wrap="none" rtlCol="0">
            <a:spAutoFit/>
          </a:bodyPr>
          <a:lstStyle/>
          <a:p>
            <a:r>
              <a:rPr lang="en-US" sz="4000" b="1" dirty="0">
                <a:solidFill>
                  <a:schemeClr val="bg1"/>
                </a:solidFill>
              </a:rPr>
              <a:t>Mission Control </a:t>
            </a:r>
          </a:p>
          <a:p>
            <a:r>
              <a:rPr lang="en-US" sz="4000" b="1" dirty="0">
                <a:solidFill>
                  <a:schemeClr val="bg1"/>
                </a:solidFill>
              </a:rPr>
              <a:t>for Student Success</a:t>
            </a:r>
          </a:p>
          <a:p>
            <a:r>
              <a:rPr lang="en-US" sz="1600" dirty="0">
                <a:solidFill>
                  <a:schemeClr val="bg1"/>
                </a:solidFill>
              </a:rPr>
              <a:t>Smart.  Simple.  Seamless.</a:t>
            </a:r>
          </a:p>
          <a:p>
            <a:r>
              <a:rPr lang="en-US" sz="1600" dirty="0">
                <a:solidFill>
                  <a:schemeClr val="bg1"/>
                </a:solidFill>
              </a:rPr>
              <a:t>The Future of Student Relationship Management.</a:t>
            </a:r>
          </a:p>
        </p:txBody>
      </p:sp>
      <p:pic>
        <p:nvPicPr>
          <p:cNvPr id="11" name="Picture 6" descr="Edited image result">
            <a:extLst>
              <a:ext uri="{FF2B5EF4-FFF2-40B4-BE49-F238E27FC236}">
                <a16:creationId xmlns:a16="http://schemas.microsoft.com/office/drawing/2014/main" id="{AD5AADAC-CAE4-7E1B-3367-1620DA370D16}"/>
              </a:ext>
            </a:extLst>
          </p:cNvPr>
          <p:cNvPicPr>
            <a:picLocks noChangeAspect="1" noChangeArrowheads="1"/>
          </p:cNvPicPr>
          <p:nvPr/>
        </p:nvPicPr>
        <p:blipFill rotWithShape="1">
          <a:blip r:embed="rId4">
            <a:clrChange>
              <a:clrFrom>
                <a:srgbClr val="3B6C44"/>
              </a:clrFrom>
              <a:clrTo>
                <a:srgbClr val="3B6C44">
                  <a:alpha val="0"/>
                </a:srgbClr>
              </a:clrTo>
            </a:clrChange>
            <a:extLst>
              <a:ext uri="{28A0092B-C50C-407E-A947-70E740481C1C}">
                <a14:useLocalDpi xmlns:a14="http://schemas.microsoft.com/office/drawing/2010/main" val="0"/>
              </a:ext>
            </a:extLst>
          </a:blip>
          <a:srcRect l="45744" t="66364" r="45827" b="31983"/>
          <a:stretch/>
        </p:blipFill>
        <p:spPr bwMode="auto">
          <a:xfrm>
            <a:off x="6620933" y="8602135"/>
            <a:ext cx="431800" cy="16086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60E22E00-500B-35A5-05D0-24AD4AD9B042}"/>
              </a:ext>
            </a:extLst>
          </p:cNvPr>
          <p:cNvSpPr txBox="1"/>
          <p:nvPr/>
        </p:nvSpPr>
        <p:spPr>
          <a:xfrm>
            <a:off x="541336" y="5811083"/>
            <a:ext cx="5122334" cy="4247317"/>
          </a:xfrm>
          <a:prstGeom prst="rect">
            <a:avLst/>
          </a:prstGeom>
          <a:noFill/>
        </p:spPr>
        <p:txBody>
          <a:bodyPr wrap="square" rtlCol="0">
            <a:spAutoFit/>
          </a:bodyPr>
          <a:lstStyle/>
          <a:p>
            <a:r>
              <a:rPr lang="en-US" b="1" dirty="0">
                <a:solidFill>
                  <a:schemeClr val="bg1"/>
                </a:solidFill>
              </a:rPr>
              <a:t>Liftoff With Powerful Features</a:t>
            </a:r>
          </a:p>
          <a:p>
            <a:endParaRPr lang="en-US" sz="1200" dirty="0">
              <a:solidFill>
                <a:schemeClr val="bg1"/>
              </a:solidFill>
              <a:latin typeface="Lato" panose="020F0502020204030203" pitchFamily="34" charset="0"/>
            </a:endParaRPr>
          </a:p>
          <a:p>
            <a:pPr marL="628650" lvl="1" indent="-171450">
              <a:lnSpc>
                <a:spcPct val="150000"/>
              </a:lnSpc>
              <a:buFont typeface="Wingdings" pitchFamily="2" charset="2"/>
              <a:buChar char="ü"/>
            </a:pPr>
            <a:r>
              <a:rPr lang="en-US" sz="1200" dirty="0">
                <a:solidFill>
                  <a:schemeClr val="bg1"/>
                </a:solidFill>
                <a:latin typeface="Lato" panose="020F0502020204030203" pitchFamily="34" charset="0"/>
              </a:rPr>
              <a:t>Advanced Automated Admissions and CRM</a:t>
            </a:r>
          </a:p>
          <a:p>
            <a:pPr marL="628650" lvl="1" indent="-171450">
              <a:lnSpc>
                <a:spcPct val="150000"/>
              </a:lnSpc>
              <a:buFont typeface="Wingdings" pitchFamily="2" charset="2"/>
              <a:buChar char="ü"/>
            </a:pPr>
            <a:r>
              <a:rPr lang="en-US" sz="1200" dirty="0">
                <a:solidFill>
                  <a:schemeClr val="bg1"/>
                </a:solidFill>
                <a:latin typeface="Lato" panose="020F0502020204030203" pitchFamily="34" charset="0"/>
              </a:rPr>
              <a:t>Comprehensive Student Information Management</a:t>
            </a:r>
          </a:p>
          <a:p>
            <a:pPr marL="628650" lvl="1" indent="-171450">
              <a:lnSpc>
                <a:spcPct val="150000"/>
              </a:lnSpc>
              <a:buFont typeface="Wingdings" pitchFamily="2" charset="2"/>
              <a:buChar char="ü"/>
            </a:pPr>
            <a:r>
              <a:rPr lang="en-US" sz="1200" dirty="0">
                <a:solidFill>
                  <a:schemeClr val="bg1"/>
                </a:solidFill>
                <a:latin typeface="Lato" panose="020F0502020204030203" pitchFamily="34" charset="0"/>
              </a:rPr>
              <a:t>Robust Reporting and Regulatory Tools</a:t>
            </a:r>
          </a:p>
          <a:p>
            <a:pPr marL="628650" lvl="1" indent="-171450">
              <a:lnSpc>
                <a:spcPct val="150000"/>
              </a:lnSpc>
              <a:buFont typeface="Wingdings" pitchFamily="2" charset="2"/>
              <a:buChar char="ü"/>
            </a:pPr>
            <a:r>
              <a:rPr lang="en-US" sz="1200" dirty="0">
                <a:solidFill>
                  <a:schemeClr val="bg1"/>
                </a:solidFill>
                <a:latin typeface="Lato" panose="020F0502020204030203" pitchFamily="34" charset="0"/>
              </a:rPr>
              <a:t>Integrated Accounting and Financial Management</a:t>
            </a:r>
          </a:p>
          <a:p>
            <a:pPr marL="628650" lvl="1" indent="-171450">
              <a:lnSpc>
                <a:spcPct val="150000"/>
              </a:lnSpc>
              <a:buFont typeface="Wingdings" pitchFamily="2" charset="2"/>
              <a:buChar char="ü"/>
            </a:pPr>
            <a:r>
              <a:rPr lang="en-US" sz="1200" dirty="0">
                <a:solidFill>
                  <a:schemeClr val="bg1"/>
                </a:solidFill>
                <a:latin typeface="Lato" panose="020F0502020204030203" pitchFamily="34" charset="0"/>
              </a:rPr>
              <a:t>AI-Powered Business Analytics</a:t>
            </a:r>
          </a:p>
          <a:p>
            <a:pPr marL="628650" lvl="1" indent="-171450">
              <a:lnSpc>
                <a:spcPct val="150000"/>
              </a:lnSpc>
              <a:buFont typeface="Wingdings" pitchFamily="2" charset="2"/>
              <a:buChar char="ü"/>
            </a:pPr>
            <a:r>
              <a:rPr lang="en-US" sz="1200" dirty="0">
                <a:solidFill>
                  <a:schemeClr val="bg1"/>
                </a:solidFill>
                <a:latin typeface="Lato" panose="020F0502020204030203" pitchFamily="34" charset="0"/>
              </a:rPr>
              <a:t>Interactive Mobile Self-Service Portals for Students and Faculty</a:t>
            </a:r>
          </a:p>
          <a:p>
            <a:pPr marL="628650" lvl="1" indent="-171450">
              <a:lnSpc>
                <a:spcPct val="150000"/>
              </a:lnSpc>
              <a:buFont typeface="Wingdings" pitchFamily="2" charset="2"/>
              <a:buChar char="ü"/>
            </a:pPr>
            <a:r>
              <a:rPr lang="en-US" sz="1200" dirty="0">
                <a:solidFill>
                  <a:schemeClr val="bg1"/>
                </a:solidFill>
                <a:latin typeface="Lato" panose="020F0502020204030203" pitchFamily="34" charset="0"/>
              </a:rPr>
              <a:t>Seamless Integration with Third-Party Systems</a:t>
            </a:r>
          </a:p>
          <a:p>
            <a:endParaRPr lang="en-US" sz="1200" dirty="0">
              <a:solidFill>
                <a:schemeClr val="bg1"/>
              </a:solidFill>
              <a:latin typeface="Lato" panose="020F0502020204030203" pitchFamily="34" charset="0"/>
            </a:endParaRPr>
          </a:p>
          <a:p>
            <a:endParaRPr lang="en-US" sz="1200" dirty="0">
              <a:solidFill>
                <a:schemeClr val="bg1"/>
              </a:solidFill>
              <a:latin typeface="Lato" panose="020F0502020204030203" pitchFamily="34" charset="0"/>
            </a:endParaRPr>
          </a:p>
          <a:p>
            <a:r>
              <a:rPr lang="en-US" b="1" dirty="0">
                <a:solidFill>
                  <a:schemeClr val="bg1"/>
                </a:solidFill>
              </a:rPr>
              <a:t>Ready for Launch?</a:t>
            </a:r>
          </a:p>
          <a:p>
            <a:r>
              <a:rPr lang="en-US" sz="1200" dirty="0">
                <a:solidFill>
                  <a:schemeClr val="accent1">
                    <a:lumMod val="40000"/>
                    <a:lumOff val="60000"/>
                  </a:schemeClr>
                </a:solidFill>
                <a:latin typeface="Lato" panose="020F0502020204030203" pitchFamily="34" charset="0"/>
              </a:rPr>
              <a:t>Take one small step for your institution and one giant leap for student success with </a:t>
            </a:r>
            <a:r>
              <a:rPr lang="en-US" sz="1200" dirty="0" err="1">
                <a:solidFill>
                  <a:schemeClr val="accent1">
                    <a:lumMod val="40000"/>
                    <a:lumOff val="60000"/>
                  </a:schemeClr>
                </a:solidFill>
                <a:latin typeface="Lato" panose="020F0502020204030203" pitchFamily="34" charset="0"/>
              </a:rPr>
              <a:t>ApolloSRM</a:t>
            </a:r>
            <a:r>
              <a:rPr lang="en-US" sz="1200" dirty="0">
                <a:solidFill>
                  <a:schemeClr val="bg1"/>
                </a:solidFill>
                <a:latin typeface="Lato" panose="020F0502020204030203" pitchFamily="34" charset="0"/>
              </a:rPr>
              <a:t>. Let's ignite your institutional potential together!</a:t>
            </a:r>
          </a:p>
          <a:p>
            <a:r>
              <a:rPr lang="en-US" sz="1200" dirty="0" err="1">
                <a:solidFill>
                  <a:schemeClr val="bg1"/>
                </a:solidFill>
                <a:latin typeface="Lato" panose="020F0502020204030203" pitchFamily="34" charset="0"/>
              </a:rPr>
              <a:t>ApolloSRM</a:t>
            </a:r>
            <a:r>
              <a:rPr lang="en-US" sz="1200" dirty="0">
                <a:solidFill>
                  <a:schemeClr val="bg1"/>
                </a:solidFill>
                <a:latin typeface="Lato" panose="020F0502020204030203" pitchFamily="34" charset="0"/>
              </a:rPr>
              <a:t>—guiding your institution from launchpad to orbit, and beyond.</a:t>
            </a:r>
          </a:p>
          <a:p>
            <a:br>
              <a:rPr lang="en-US" sz="1200" dirty="0">
                <a:solidFill>
                  <a:schemeClr val="bg1"/>
                </a:solidFill>
                <a:latin typeface="Lato" panose="020F0502020204030203" pitchFamily="34" charset="0"/>
              </a:rPr>
            </a:br>
            <a:endParaRPr lang="en-US" sz="1200" dirty="0">
              <a:solidFill>
                <a:schemeClr val="bg1"/>
              </a:solidFill>
              <a:latin typeface="Lato" panose="020F0502020204030203" pitchFamily="34" charset="0"/>
            </a:endParaRPr>
          </a:p>
        </p:txBody>
      </p:sp>
      <p:sp>
        <p:nvSpPr>
          <p:cNvPr id="22" name="TextBox 21">
            <a:extLst>
              <a:ext uri="{FF2B5EF4-FFF2-40B4-BE49-F238E27FC236}">
                <a16:creationId xmlns:a16="http://schemas.microsoft.com/office/drawing/2014/main" id="{EE7F0DB0-B64C-AF54-16AB-25EE10AC9B06}"/>
              </a:ext>
            </a:extLst>
          </p:cNvPr>
          <p:cNvSpPr txBox="1"/>
          <p:nvPr/>
        </p:nvSpPr>
        <p:spPr>
          <a:xfrm>
            <a:off x="541336" y="2399122"/>
            <a:ext cx="6689728" cy="3323987"/>
          </a:xfrm>
          <a:prstGeom prst="rect">
            <a:avLst/>
          </a:prstGeom>
          <a:noFill/>
        </p:spPr>
        <p:txBody>
          <a:bodyPr wrap="square">
            <a:spAutoFit/>
          </a:bodyPr>
          <a:lstStyle/>
          <a:p>
            <a:r>
              <a:rPr lang="en-US" b="1" dirty="0" err="1">
                <a:solidFill>
                  <a:schemeClr val="bg1"/>
                </a:solidFill>
              </a:rPr>
              <a:t>ApolloSRM</a:t>
            </a:r>
            <a:r>
              <a:rPr lang="en-US" b="1" dirty="0">
                <a:solidFill>
                  <a:schemeClr val="bg1"/>
                </a:solidFill>
              </a:rPr>
              <a:t> = SIS + CRM</a:t>
            </a:r>
          </a:p>
          <a:p>
            <a:r>
              <a:rPr lang="en-US" sz="1200" dirty="0">
                <a:solidFill>
                  <a:schemeClr val="bg1"/>
                </a:solidFill>
                <a:latin typeface="Lato" panose="020F0502020204030203" pitchFamily="34" charset="0"/>
              </a:rPr>
              <a:t>Houston, we have a solution! </a:t>
            </a:r>
            <a:r>
              <a:rPr lang="en-US" sz="1200" dirty="0" err="1">
                <a:solidFill>
                  <a:schemeClr val="bg1"/>
                </a:solidFill>
                <a:latin typeface="Lato" panose="020F0502020204030203" pitchFamily="34" charset="0"/>
              </a:rPr>
              <a:t>ApolloSRM</a:t>
            </a:r>
            <a:r>
              <a:rPr lang="en-US" sz="1200" dirty="0">
                <a:solidFill>
                  <a:schemeClr val="bg1"/>
                </a:solidFill>
                <a:latin typeface="Lato" panose="020F0502020204030203" pitchFamily="34" charset="0"/>
              </a:rPr>
              <a:t> is the integrated Student Information System (SIS) and Customer Relationship Management (CRM) platform that effortlessly launches your college to new heights. Like NASA's famed Apollo program, our software is carefully engineered to guide your institution smoothly through every phase of the student lifecycle—from first contact to graduation and beyond.</a:t>
            </a:r>
          </a:p>
          <a:p>
            <a:endParaRPr lang="en-US" sz="1200" dirty="0">
              <a:solidFill>
                <a:schemeClr val="bg1"/>
              </a:solidFill>
              <a:latin typeface="Lato" panose="020F0502020204030203" pitchFamily="34" charset="0"/>
            </a:endParaRPr>
          </a:p>
          <a:p>
            <a:r>
              <a:rPr lang="en-US" b="1" dirty="0">
                <a:solidFill>
                  <a:schemeClr val="bg1"/>
                </a:solidFill>
              </a:rPr>
              <a:t>Modern AI-Focused Software</a:t>
            </a:r>
          </a:p>
          <a:p>
            <a:r>
              <a:rPr lang="en-US" sz="1200" dirty="0">
                <a:solidFill>
                  <a:schemeClr val="bg1"/>
                </a:solidFill>
                <a:latin typeface="Lato" panose="020F0502020204030203" pitchFamily="34" charset="0"/>
              </a:rPr>
              <a:t>Apollo’s AI-first design ensures your system is future-ready and easy to use. It integrates seamlessly with your existing infrastructure, making data more accessible while streamlining operations, boosting productivity, and driving growth.</a:t>
            </a:r>
          </a:p>
          <a:p>
            <a:endParaRPr lang="en-US" sz="1200" dirty="0">
              <a:solidFill>
                <a:schemeClr val="bg1"/>
              </a:solidFill>
              <a:latin typeface="Lato" panose="020F0502020204030203" pitchFamily="34" charset="0"/>
            </a:endParaRPr>
          </a:p>
          <a:p>
            <a:r>
              <a:rPr lang="en-US" b="1" dirty="0">
                <a:solidFill>
                  <a:schemeClr val="bg1"/>
                </a:solidFill>
              </a:rPr>
              <a:t>Reliable and Extendable</a:t>
            </a:r>
            <a:endParaRPr lang="en-US" sz="1200" dirty="0">
              <a:solidFill>
                <a:schemeClr val="bg1"/>
              </a:solidFill>
              <a:latin typeface="Lato" panose="020F0502020204030203" pitchFamily="34" charset="0"/>
            </a:endParaRPr>
          </a:p>
          <a:p>
            <a:r>
              <a:rPr lang="en-US" sz="1200" dirty="0">
                <a:solidFill>
                  <a:schemeClr val="bg1"/>
                </a:solidFill>
                <a:latin typeface="Lato" panose="020F0502020204030203" pitchFamily="34" charset="0"/>
              </a:rPr>
              <a:t>Our expert team builds secure, scalable systems that integrate seamlessly with your existing tech. Designed to fuel growth and innovation, our solutions keep you efficient, competitive, and ready to reach your goals with confidence.</a:t>
            </a:r>
          </a:p>
        </p:txBody>
      </p:sp>
    </p:spTree>
    <p:extLst>
      <p:ext uri="{BB962C8B-B14F-4D97-AF65-F5344CB8AC3E}">
        <p14:creationId xmlns:p14="http://schemas.microsoft.com/office/powerpoint/2010/main" val="36039217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99</TotalTime>
  <Words>253</Words>
  <Application>Microsoft Macintosh PowerPoint</Application>
  <PresentationFormat>Custom</PresentationFormat>
  <Paragraphs>28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Lato</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Anderson, Derek</dc:creator>
  <cp:lastModifiedBy>Anderson, Derek</cp:lastModifiedBy>
  <cp:revision>2</cp:revision>
  <dcterms:created xsi:type="dcterms:W3CDTF">2025-07-14T22:17:59Z</dcterms:created>
  <dcterms:modified xsi:type="dcterms:W3CDTF">2025-07-23T17:00:37Z</dcterms:modified>
</cp:coreProperties>
</file>