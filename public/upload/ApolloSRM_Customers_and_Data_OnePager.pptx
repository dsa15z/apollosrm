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57" r:id="rId2"/>
    <p:sldId id="258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F34"/>
    <a:srgbClr val="005487"/>
    <a:srgbClr val="00132C"/>
    <a:srgbClr val="0050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B03AA-7149-FA40-B32C-7A757E8AEF9A}" v="11" dt="2026-02-01T22:08:37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0"/>
  </p:normalViewPr>
  <p:slideViewPr>
    <p:cSldViewPr snapToGrid="0">
      <p:cViewPr>
        <p:scale>
          <a:sx n="100" d="100"/>
          <a:sy n="100" d="100"/>
        </p:scale>
        <p:origin x="2584" y="-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07B69-4DE4-D447-88A7-3976803187DB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C6C90-D210-4347-885B-C0B0AA40F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23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C6C90-D210-4347-885B-C0B0AA40F4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42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4CD7C-0792-2218-2D98-8F06DDD24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EE1C4-B092-6E14-1378-7E774B480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C8CF4-B51A-F09F-C930-FD3EBA6CB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AF558-E295-BA02-7D08-AE301BBA7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C6C90-D210-4347-885B-C0B0AA40F4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98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53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6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2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3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8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59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7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5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5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2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0D280-A272-9E4C-A122-7195A106EE07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96241FD-7B2D-2E7B-E7D6-C799BFEFEB8A}"/>
              </a:ext>
            </a:extLst>
          </p:cNvPr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101F3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View generated image">
            <a:extLst>
              <a:ext uri="{FF2B5EF4-FFF2-40B4-BE49-F238E27FC236}">
                <a16:creationId xmlns:a16="http://schemas.microsoft.com/office/drawing/2014/main" id="{19599C34-F150-3BB0-2F48-A2083E9097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4" r="11364"/>
          <a:stretch/>
        </p:blipFill>
        <p:spPr bwMode="auto">
          <a:xfrm>
            <a:off x="0" y="-1"/>
            <a:ext cx="7772400" cy="1005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dited image result">
            <a:extLst>
              <a:ext uri="{FF2B5EF4-FFF2-40B4-BE49-F238E27FC236}">
                <a16:creationId xmlns:a16="http://schemas.microsoft.com/office/drawing/2014/main" id="{211BB0F8-0A1F-ADFC-1C4B-CBCD48C62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B6C44"/>
              </a:clrFrom>
              <a:clrTo>
                <a:srgbClr val="3B6C4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666" y="5207011"/>
            <a:ext cx="5122333" cy="512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logo with a rocket in the middle&#10;&#10;AI-generated content may be incorrect.">
            <a:extLst>
              <a:ext uri="{FF2B5EF4-FFF2-40B4-BE49-F238E27FC236}">
                <a16:creationId xmlns:a16="http://schemas.microsoft.com/office/drawing/2014/main" id="{70685B0A-8E40-62F1-CAF5-B1DCBE32F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82" y="588433"/>
            <a:ext cx="1310217" cy="949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A62C84-67D9-CBD5-4ECA-FF58E2C6D0E5}"/>
              </a:ext>
            </a:extLst>
          </p:cNvPr>
          <p:cNvSpPr txBox="1"/>
          <p:nvPr/>
        </p:nvSpPr>
        <p:spPr>
          <a:xfrm>
            <a:off x="1918456" y="395013"/>
            <a:ext cx="47252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Mission Support</a:t>
            </a:r>
          </a:p>
          <a:p>
            <a:r>
              <a:rPr lang="en-US" sz="1600" dirty="0">
                <a:solidFill>
                  <a:schemeClr val="bg1"/>
                </a:solidFill>
              </a:rPr>
              <a:t>Smart.  Simple.  Seamless. AND HUMAN.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The Future of Student Relationship Management.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1" name="Picture 6" descr="Edited image result">
            <a:extLst>
              <a:ext uri="{FF2B5EF4-FFF2-40B4-BE49-F238E27FC236}">
                <a16:creationId xmlns:a16="http://schemas.microsoft.com/office/drawing/2014/main" id="{AD5AADAC-CAE4-7E1B-3367-1620DA370D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3B6C44"/>
              </a:clrFrom>
              <a:clrTo>
                <a:srgbClr val="3B6C4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4" t="66364" r="45827" b="31983"/>
          <a:stretch/>
        </p:blipFill>
        <p:spPr bwMode="auto">
          <a:xfrm>
            <a:off x="6620933" y="8602135"/>
            <a:ext cx="431800" cy="16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E7F0DB0-B64C-AF54-16AB-25EE10AC9B06}"/>
              </a:ext>
            </a:extLst>
          </p:cNvPr>
          <p:cNvSpPr txBox="1"/>
          <p:nvPr/>
        </p:nvSpPr>
        <p:spPr>
          <a:xfrm>
            <a:off x="541336" y="1862019"/>
            <a:ext cx="6689728" cy="4497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Houston, We Have Your Back.</a:t>
            </a:r>
          </a:p>
          <a:p>
            <a:pPr>
              <a:buNone/>
            </a:pPr>
            <a:endParaRPr lang="en-US" sz="8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200" dirty="0">
                <a:solidFill>
                  <a:schemeClr val="bg1"/>
                </a:solidFill>
              </a:rPr>
              <a:t>When you run a school, “support” is not a nice-to-have. It’s mission-critical. Students don’t pause their lives because a vendor missed a callback. Staff can’t wait three days for a ticket response while enrollment, attendance, billing, or compliance is on the line.</a:t>
            </a:r>
          </a:p>
          <a:p>
            <a:pPr>
              <a:buNone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200" dirty="0">
                <a:solidFill>
                  <a:schemeClr val="bg1"/>
                </a:solidFill>
              </a:rPr>
              <a:t>And yet… </a:t>
            </a:r>
            <a:r>
              <a:rPr lang="en-US" sz="1200" b="1" dirty="0">
                <a:solidFill>
                  <a:schemeClr val="bg1"/>
                </a:solidFill>
              </a:rPr>
              <a:t>plenty of vendors act like your problems are optional:</a:t>
            </a:r>
          </a:p>
          <a:p>
            <a:pPr>
              <a:buNone/>
            </a:pPr>
            <a:endParaRPr lang="en-US" sz="800" dirty="0">
              <a:solidFill>
                <a:schemeClr val="bg1"/>
              </a:solidFill>
            </a:endParaRPr>
          </a:p>
          <a:p>
            <a:pPr marL="628650" lvl="1" indent="-171450">
              <a:lnSpc>
                <a:spcPct val="150000"/>
              </a:lnSpc>
              <a:buClr>
                <a:srgbClr val="FF0000"/>
              </a:buClr>
              <a:buFont typeface="System Font Regular"/>
              <a:buChar char="X"/>
            </a:pPr>
            <a:r>
              <a:rPr lang="en-US" sz="1200" dirty="0">
                <a:solidFill>
                  <a:schemeClr val="bg1"/>
                </a:solidFill>
              </a:rPr>
              <a:t>They don’t answer the phones.</a:t>
            </a:r>
          </a:p>
          <a:p>
            <a:pPr marL="628650" lvl="1" indent="-171450">
              <a:lnSpc>
                <a:spcPct val="150000"/>
              </a:lnSpc>
              <a:buClr>
                <a:srgbClr val="FF0000"/>
              </a:buClr>
              <a:buFont typeface="System Font Regular"/>
              <a:buChar char="X"/>
            </a:pPr>
            <a:r>
              <a:rPr lang="en-US" sz="1200" dirty="0">
                <a:solidFill>
                  <a:schemeClr val="bg1"/>
                </a:solidFill>
              </a:rPr>
              <a:t>They hide behind ticket queues.</a:t>
            </a:r>
          </a:p>
          <a:p>
            <a:pPr marL="628650" lvl="1" indent="-171450">
              <a:lnSpc>
                <a:spcPct val="150000"/>
              </a:lnSpc>
              <a:buClr>
                <a:srgbClr val="FF0000"/>
              </a:buClr>
              <a:buFont typeface="System Font Regular"/>
              <a:buChar char="X"/>
            </a:pPr>
            <a:r>
              <a:rPr lang="en-US" sz="1200" dirty="0">
                <a:solidFill>
                  <a:schemeClr val="bg1"/>
                </a:solidFill>
              </a:rPr>
              <a:t>They delay until you stop asking.</a:t>
            </a:r>
          </a:p>
          <a:p>
            <a:pPr marL="628650" lvl="1" indent="-171450">
              <a:lnSpc>
                <a:spcPct val="150000"/>
              </a:lnSpc>
              <a:buClr>
                <a:srgbClr val="FF0000"/>
              </a:buClr>
              <a:buFont typeface="System Font Regular"/>
              <a:buChar char="X"/>
            </a:pPr>
            <a:r>
              <a:rPr lang="en-US" sz="1200" dirty="0">
                <a:solidFill>
                  <a:schemeClr val="bg1"/>
                </a:solidFill>
              </a:rPr>
              <a:t>They “solve” churn by making it painful to leave.</a:t>
            </a:r>
          </a:p>
          <a:p>
            <a:pPr marL="628650" lvl="1" indent="-171450">
              <a:lnSpc>
                <a:spcPct val="150000"/>
              </a:lnSpc>
              <a:buClr>
                <a:srgbClr val="FF0000"/>
              </a:buClr>
              <a:buFont typeface="System Font Regular"/>
              <a:buChar char="X"/>
            </a:pPr>
            <a:r>
              <a:rPr lang="en-US" sz="1200" dirty="0">
                <a:solidFill>
                  <a:schemeClr val="bg1"/>
                </a:solidFill>
              </a:rPr>
              <a:t>They treat your data like leverage instead of a responsibility.</a:t>
            </a:r>
          </a:p>
          <a:p>
            <a:pPr>
              <a:buNone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1200" b="1" dirty="0" err="1">
                <a:solidFill>
                  <a:schemeClr val="bg1"/>
                </a:solidFill>
              </a:rPr>
              <a:t>ApolloSRM</a:t>
            </a:r>
            <a:r>
              <a:rPr lang="en-US" sz="1200" b="1" dirty="0">
                <a:solidFill>
                  <a:schemeClr val="bg1"/>
                </a:solidFill>
              </a:rPr>
              <a:t> is built on the opposite idea – TRUE PARTNERSHIP:</a:t>
            </a:r>
          </a:p>
          <a:p>
            <a:pPr>
              <a:buNone/>
            </a:pPr>
            <a:endParaRPr lang="en-US" sz="800" dirty="0">
              <a:solidFill>
                <a:schemeClr val="bg1"/>
              </a:solidFill>
            </a:endParaRP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We win by being available, accountable, and fair.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Just like NASA’s mission control teams in Houston… 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Astronauts are never left stranded mid-flight. 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When something breaks, mission support responds. Fast. Competent. Every time.</a:t>
            </a:r>
            <a:endParaRPr lang="en-US" sz="5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428AD-21AE-4C18-E65D-85F8ACFF22D9}"/>
              </a:ext>
            </a:extLst>
          </p:cNvPr>
          <p:cNvSpPr txBox="1"/>
          <p:nvPr/>
        </p:nvSpPr>
        <p:spPr>
          <a:xfrm>
            <a:off x="541336" y="6626338"/>
            <a:ext cx="6079598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What “Mission Support” Means in Real Life</a:t>
            </a:r>
            <a:endParaRPr lang="en-US" alt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This isn’t a slogan. It’s a set of behaviors.</a:t>
            </a:r>
          </a:p>
          <a:p>
            <a:endParaRPr lang="en-US" sz="800" b="1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1) We Answer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You can call us and reach a human.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We don’t route you into an endless maze of “press 4 for disappointment.”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If it’s urgent, we treat it like it’s urgent.</a:t>
            </a: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2) We Respond Fast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Same-day response when it matters.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Clear acknowledgement, real triage, and a next step.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No “we’ll look into it” and then silence for a week.</a:t>
            </a:r>
          </a:p>
          <a:p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92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47E4A-7128-B39D-9002-F42B066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EE1C897-1E7E-1C17-C48E-AB90FBD03BC5}"/>
              </a:ext>
            </a:extLst>
          </p:cNvPr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101F3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View generated image">
            <a:extLst>
              <a:ext uri="{FF2B5EF4-FFF2-40B4-BE49-F238E27FC236}">
                <a16:creationId xmlns:a16="http://schemas.microsoft.com/office/drawing/2014/main" id="{408CB151-3E2E-E82D-AA2D-6BC41F22D3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4" r="11364"/>
          <a:stretch/>
        </p:blipFill>
        <p:spPr bwMode="auto">
          <a:xfrm>
            <a:off x="0" y="-1"/>
            <a:ext cx="7772400" cy="1005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dited image result">
            <a:extLst>
              <a:ext uri="{FF2B5EF4-FFF2-40B4-BE49-F238E27FC236}">
                <a16:creationId xmlns:a16="http://schemas.microsoft.com/office/drawing/2014/main" id="{01A71108-7FB7-7661-CED5-0B977E46E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B6C44"/>
              </a:clrFrom>
              <a:clrTo>
                <a:srgbClr val="3B6C4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666" y="5207011"/>
            <a:ext cx="5122333" cy="512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logo with a rocket in the middle&#10;&#10;AI-generated content may be incorrect.">
            <a:extLst>
              <a:ext uri="{FF2B5EF4-FFF2-40B4-BE49-F238E27FC236}">
                <a16:creationId xmlns:a16="http://schemas.microsoft.com/office/drawing/2014/main" id="{2A7A494C-8335-5BCC-2CE0-20BF4AFD4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82" y="588433"/>
            <a:ext cx="1310217" cy="949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59DE13-DDC4-2A4F-1990-DB1E6EB02EAB}"/>
              </a:ext>
            </a:extLst>
          </p:cNvPr>
          <p:cNvSpPr txBox="1"/>
          <p:nvPr/>
        </p:nvSpPr>
        <p:spPr>
          <a:xfrm>
            <a:off x="1918456" y="395013"/>
            <a:ext cx="47252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Mission Support</a:t>
            </a:r>
          </a:p>
          <a:p>
            <a:r>
              <a:rPr lang="en-US" sz="1600" dirty="0">
                <a:solidFill>
                  <a:schemeClr val="bg1"/>
                </a:solidFill>
              </a:rPr>
              <a:t>Smart.  Simple.  Seamless. AND HUMAN.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The Future of Student Relationship Management.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1" name="Picture 6" descr="Edited image result">
            <a:extLst>
              <a:ext uri="{FF2B5EF4-FFF2-40B4-BE49-F238E27FC236}">
                <a16:creationId xmlns:a16="http://schemas.microsoft.com/office/drawing/2014/main" id="{886D9A1D-4D19-6708-7B8B-DCFE9D95B0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3B6C44"/>
              </a:clrFrom>
              <a:clrTo>
                <a:srgbClr val="3B6C4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4" t="66364" r="45827" b="31983"/>
          <a:stretch/>
        </p:blipFill>
        <p:spPr bwMode="auto">
          <a:xfrm>
            <a:off x="6620933" y="8602135"/>
            <a:ext cx="431800" cy="16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C62DDE-B614-6CCF-8371-F87917DE9DE7}"/>
              </a:ext>
            </a:extLst>
          </p:cNvPr>
          <p:cNvSpPr txBox="1"/>
          <p:nvPr/>
        </p:nvSpPr>
        <p:spPr>
          <a:xfrm>
            <a:off x="467782" y="1813038"/>
            <a:ext cx="6079598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What “Mission Support” Means in Real Life (part 2)</a:t>
            </a:r>
            <a:endParaRPr lang="en-US" altLang="en-US" sz="800" dirty="0">
              <a:solidFill>
                <a:schemeClr val="bg1"/>
              </a:solidFill>
            </a:endParaRPr>
          </a:p>
          <a:p>
            <a:endParaRPr lang="en-US" sz="800" dirty="0">
              <a:solidFill>
                <a:schemeClr val="bg1"/>
              </a:solidFill>
            </a:endParaRP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3) We Make It Right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If we broke it, we fix it.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If you’re stuck, we unblock you.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If something is confusing, we help you simplify the process, not blame the user.</a:t>
            </a: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4) Founder-Level Accountability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We’re a founder-led company. That means you get something rare in software: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Access.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If you need it, you can have our cell numbers.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Not because we want chaos… because we believe accountability builds trust.</a:t>
            </a: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5) No Lockouts. Ever.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We don’t punish customers for asking hard questions.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We don’t “accidentally” slow-walk exports.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We don’t create obstacles so leaving feels impossible.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6) Data Freedom Guarantee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Your data is yours. Period.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Export any time.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Clean formats.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No ransom-by-process.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No “special fees” to get your own information.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No hostage situations disguised as software.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If you ever decide </a:t>
            </a:r>
            <a:r>
              <a:rPr lang="en-US" sz="1200" dirty="0" err="1">
                <a:solidFill>
                  <a:schemeClr val="bg1"/>
                </a:solidFill>
              </a:rPr>
              <a:t>ApolloSRM</a:t>
            </a:r>
            <a:r>
              <a:rPr lang="en-US" sz="1200" dirty="0">
                <a:solidFill>
                  <a:schemeClr val="bg1"/>
                </a:solidFill>
              </a:rPr>
              <a:t> isn’t the right fit, we’ll help you like adults.</a:t>
            </a:r>
          </a:p>
          <a:p>
            <a:pPr marL="628650" lvl="1" indent="-171450">
              <a:lnSpc>
                <a:spcPct val="150000"/>
              </a:lnSpc>
              <a:buClr>
                <a:schemeClr val="accent6"/>
              </a:buClr>
              <a:buFont typeface="Wingdings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</a:rPr>
              <a:t>That’s what confidence looks like.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Ready for a Better Vendor Relationship?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If you’re tired of being treated like a ticket number, come work with a team that picks up the phone and stands behind the product.</a:t>
            </a:r>
          </a:p>
          <a:p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608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</TotalTime>
  <Words>528</Words>
  <Application>Microsoft Macintosh PowerPoint</Application>
  <PresentationFormat>Custom</PresentationFormat>
  <Paragraphs>71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System Font Regular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Anderson, Derek</dc:creator>
  <cp:lastModifiedBy>Derek Anderson</cp:lastModifiedBy>
  <cp:revision>5</cp:revision>
  <cp:lastPrinted>2026-02-01T21:00:51Z</cp:lastPrinted>
  <dcterms:created xsi:type="dcterms:W3CDTF">2025-07-14T22:17:59Z</dcterms:created>
  <dcterms:modified xsi:type="dcterms:W3CDTF">2026-02-01T22:13:05Z</dcterms:modified>
</cp:coreProperties>
</file>